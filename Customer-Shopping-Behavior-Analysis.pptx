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Marcellus"/>
      <p:regular r:id="rId17"/>
    </p:embeddedFont>
    <p:embeddedFont>
      <p:font typeface="Montserrat"/>
      <p:regular r:id="rId18"/>
    </p:embeddedFont>
    <p:embeddedFont>
      <p:font typeface="Montserrat"/>
      <p:regular r:id="rId19"/>
    </p:embeddedFont>
    <p:embeddedFont>
      <p:font typeface="Montserrat"/>
      <p:regular r:id="rId20"/>
    </p:embeddedFont>
    <p:embeddedFont>
      <p:font typeface="Montserrat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59210"/>
            <a:ext cx="4722763" cy="105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Customer Shopping Behavior Analysis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3925119" y="2931468"/>
            <a:ext cx="4722763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Uncovering spending patterns, customer segments, product preferences, and subscription behavior from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3,900 transactions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guide strategic business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69082"/>
            <a:ext cx="4075807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Dataset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96119" y="1753270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776734" y="2398142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Purchases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96119" y="2748111"/>
            <a:ext cx="2599134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Rows of transactional data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72433" y="1753270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18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3553048" y="2398142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Features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72433" y="2748111"/>
            <a:ext cx="2599134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Columns per record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48747" y="1753270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37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6329363" y="2398142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Missing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48747" y="2748111"/>
            <a:ext cx="2599134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Null values in Review Rating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119" y="3144962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Feature Groups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6119" y="3622477"/>
            <a:ext cx="8151763" cy="651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1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Demographics:</a:t>
            </a:r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Age, Gender, Location, Subscription Status</a:t>
            </a:r>
            <a:endParaRPr lang="en-US" sz="1100" dirty="0"/>
          </a:p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1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Purchase Details:</a:t>
            </a:r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Item, Category, Amount, Season, Size, Color</a:t>
            </a:r>
            <a:endParaRPr lang="en-US" sz="1100" dirty="0"/>
          </a:p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1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Behavior:</a:t>
            </a:r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Discounts, Promo Codes, Frequency, Review Rating, Shipping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8654" y="370433"/>
            <a:ext cx="4195911" cy="447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7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 Preparation in Python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18654" y="968797"/>
            <a:ext cx="239167" cy="155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18654" y="1163687"/>
            <a:ext cx="4877693" cy="14288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6" name="Text 3"/>
          <p:cNvSpPr/>
          <p:nvPr/>
        </p:nvSpPr>
        <p:spPr>
          <a:xfrm>
            <a:off x="418654" y="1252017"/>
            <a:ext cx="1719411" cy="223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Load &amp; Explore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8654" y="1536055"/>
            <a:ext cx="4877693" cy="14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Imported with </a:t>
            </a:r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; used </a:t>
            </a:r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</a:t>
            </a:r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for structure review.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8654" y="1874639"/>
            <a:ext cx="239167" cy="155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18654" y="2069529"/>
            <a:ext cx="4877693" cy="14288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0" name="Text 7"/>
          <p:cNvSpPr/>
          <p:nvPr/>
        </p:nvSpPr>
        <p:spPr>
          <a:xfrm>
            <a:off x="418654" y="2157859"/>
            <a:ext cx="1719411" cy="223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Clean &amp; Impute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8654" y="2441897"/>
            <a:ext cx="4877693" cy="286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Imputed missing Review Ratings using median per product category; renamed columns to snake_case.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18654" y="2918966"/>
            <a:ext cx="239167" cy="155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8654" y="3113856"/>
            <a:ext cx="4877693" cy="14288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4" name="Text 11"/>
          <p:cNvSpPr/>
          <p:nvPr/>
        </p:nvSpPr>
        <p:spPr>
          <a:xfrm>
            <a:off x="418654" y="3202186"/>
            <a:ext cx="1719411" cy="223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18654" y="3486224"/>
            <a:ext cx="4877693" cy="29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Created </a:t>
            </a:r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bins and </a:t>
            </a:r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; dropped redundant </a:t>
            </a:r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18654" y="3972818"/>
            <a:ext cx="239167" cy="155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04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18654" y="4167708"/>
            <a:ext cx="4877693" cy="14288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8" name="Text 15"/>
          <p:cNvSpPr/>
          <p:nvPr/>
        </p:nvSpPr>
        <p:spPr>
          <a:xfrm>
            <a:off x="418654" y="4256038"/>
            <a:ext cx="1719411" cy="223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Database Load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18654" y="4540076"/>
            <a:ext cx="4877693" cy="14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Connected to MySQL and loaded the cleaned DataFrame for SQL analysis.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30610"/>
            <a:ext cx="5282505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Revenue &amp; Spending Insights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32508"/>
            <a:ext cx="3902943" cy="23083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32808" y="2287339"/>
            <a:ext cx="146447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158k</a:t>
            </a:r>
            <a:endParaRPr lang="en-US" sz="400" dirty="0"/>
          </a:p>
        </p:txBody>
      </p:sp>
      <p:sp>
        <p:nvSpPr>
          <p:cNvPr id="5" name="Text 2"/>
          <p:cNvSpPr/>
          <p:nvPr/>
        </p:nvSpPr>
        <p:spPr>
          <a:xfrm>
            <a:off x="2268721" y="3311277"/>
            <a:ext cx="160511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75.2k</a:t>
            </a:r>
            <a:endParaRPr lang="en-US" sz="400" dirty="0"/>
          </a:p>
        </p:txBody>
      </p:sp>
      <p:sp>
        <p:nvSpPr>
          <p:cNvPr id="6" name="Text 3"/>
          <p:cNvSpPr/>
          <p:nvPr/>
        </p:nvSpPr>
        <p:spPr>
          <a:xfrm>
            <a:off x="4749701" y="1714798"/>
            <a:ext cx="2622277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Shipping Type vs. Avg. Spend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749701" y="2139181"/>
            <a:ext cx="3902943" cy="1110704"/>
          </a:xfrm>
          <a:prstGeom prst="roundRect">
            <a:avLst>
              <a:gd name="adj" fmla="val 536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96296" y="2233761"/>
            <a:ext cx="166077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Shipping Type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45350" y="2233761"/>
            <a:ext cx="166077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Avg. Purchase (USD)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96296" y="2602409"/>
            <a:ext cx="166077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45350" y="2602409"/>
            <a:ext cx="166077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$58.46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96296" y="2971056"/>
            <a:ext cx="166077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Express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45350" y="2971056"/>
            <a:ext cx="166077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$60.48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49701" y="3409355"/>
            <a:ext cx="3902943" cy="744066"/>
          </a:xfrm>
          <a:prstGeom prst="roundRect">
            <a:avLst>
              <a:gd name="adj" fmla="val 8002"/>
            </a:avLst>
          </a:prstGeom>
          <a:solidFill>
            <a:srgbClr val="B6D6F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3605361"/>
            <a:ext cx="177180" cy="14175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10398" y="3586535"/>
            <a:ext cx="3300487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839 discount users still spent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above average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discounts don't always erode value.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6399"/>
            <a:ext cx="8151763" cy="105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Top-Rated Products &amp; Discount Dependency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96119" y="1890415"/>
            <a:ext cx="2744539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Top 5 Products by Avg. Rating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96119" y="2314798"/>
            <a:ext cx="3902943" cy="2192834"/>
          </a:xfrm>
          <a:prstGeom prst="roundRect">
            <a:avLst>
              <a:gd name="adj" fmla="val 271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0881" y="2319561"/>
            <a:ext cx="3893418" cy="36388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2714" y="2409379"/>
            <a:ext cx="166077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91767" y="2409379"/>
            <a:ext cx="166077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Avg. Rating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0881" y="2683446"/>
            <a:ext cx="3893418" cy="36388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2714" y="2773263"/>
            <a:ext cx="166077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Gloves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91767" y="2773263"/>
            <a:ext cx="166077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3.86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0881" y="3047330"/>
            <a:ext cx="3893418" cy="36388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2714" y="3137148"/>
            <a:ext cx="166077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Sandals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91767" y="3137148"/>
            <a:ext cx="166077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3.84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0881" y="3411215"/>
            <a:ext cx="3893418" cy="36388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2714" y="3501033"/>
            <a:ext cx="166077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91767" y="3501033"/>
            <a:ext cx="166077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3.82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0881" y="3775100"/>
            <a:ext cx="3893418" cy="36388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2714" y="3864918"/>
            <a:ext cx="166077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91767" y="3864918"/>
            <a:ext cx="166077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3.80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0881" y="4138985"/>
            <a:ext cx="3893418" cy="36388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2714" y="4228802"/>
            <a:ext cx="166077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Skirt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91767" y="4228802"/>
            <a:ext cx="166077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3.78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49701" y="1890415"/>
            <a:ext cx="3314700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Most Discount-Dependent Products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49701" y="2314798"/>
            <a:ext cx="3902943" cy="2192834"/>
          </a:xfrm>
          <a:prstGeom prst="roundRect">
            <a:avLst>
              <a:gd name="adj" fmla="val 271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463" y="2319561"/>
            <a:ext cx="3893418" cy="36388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96296" y="2409379"/>
            <a:ext cx="166077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45350" y="2409379"/>
            <a:ext cx="166077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Discount Rate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463" y="2683446"/>
            <a:ext cx="3893418" cy="36388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896296" y="2773263"/>
            <a:ext cx="166077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45350" y="2773263"/>
            <a:ext cx="166077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50.00%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463" y="3047330"/>
            <a:ext cx="3893418" cy="36388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896296" y="3137148"/>
            <a:ext cx="166077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Sneakers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45350" y="3137148"/>
            <a:ext cx="166077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49.66%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463" y="3411215"/>
            <a:ext cx="3893418" cy="36388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896296" y="3501033"/>
            <a:ext cx="166077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Coat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45350" y="3501033"/>
            <a:ext cx="166077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49.07%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463" y="3775100"/>
            <a:ext cx="3893418" cy="36388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896296" y="3864918"/>
            <a:ext cx="166077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Sweater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45350" y="3864918"/>
            <a:ext cx="166077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48.17%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463" y="4138985"/>
            <a:ext cx="3893418" cy="36388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896296" y="4228802"/>
            <a:ext cx="166077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Pants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45350" y="4228802"/>
            <a:ext cx="166077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47.37%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12093"/>
            <a:ext cx="3562722" cy="422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Customer Segmentation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970508"/>
            <a:ext cx="3759622" cy="375962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89" y="970508"/>
            <a:ext cx="3759622" cy="37596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14503" y="2186136"/>
            <a:ext cx="1623938" cy="211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Segment Breakdown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4714503" y="2487141"/>
            <a:ext cx="3759622" cy="263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vast majority of customers — </a:t>
            </a:r>
            <a:pPr algn="l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B88E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3,116 (80%)</a:t>
            </a:r>
            <a:pPr algn="l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are classified as </a:t>
            </a:r>
            <a:pPr algn="l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Loyal</a:t>
            </a:r>
            <a:pPr algn="l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with 701 Returning and just 83 New customers.</a:t>
            </a:r>
            <a:endParaRPr lang="en-US" sz="850" dirty="0"/>
          </a:p>
        </p:txBody>
      </p:sp>
      <p:sp>
        <p:nvSpPr>
          <p:cNvPr id="7" name="Shape 3"/>
          <p:cNvSpPr/>
          <p:nvPr/>
        </p:nvSpPr>
        <p:spPr>
          <a:xfrm>
            <a:off x="4714503" y="2852068"/>
            <a:ext cx="3759622" cy="651197"/>
          </a:xfrm>
          <a:prstGeom prst="roundRect">
            <a:avLst>
              <a:gd name="adj" fmla="val 7286"/>
            </a:avLst>
          </a:prstGeom>
          <a:solidFill>
            <a:srgbClr val="B6FCB8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463" y="2999110"/>
            <a:ext cx="141163" cy="11296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081587" y="2970237"/>
            <a:ext cx="3279577" cy="395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loyal customer base is a strong foundation — the opportunity lies in converting Returning buyers into Loyal ones.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50106"/>
            <a:ext cx="5533653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Subscriptions &amp; Repeat Buyers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99630"/>
            <a:ext cx="3902943" cy="22608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67372" y="3621656"/>
            <a:ext cx="1035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73%</a:t>
            </a:r>
            <a:endParaRPr lang="en-US" sz="400" dirty="0"/>
          </a:p>
        </p:txBody>
      </p:sp>
      <p:sp>
        <p:nvSpPr>
          <p:cNvPr id="5" name="Text 2"/>
          <p:cNvSpPr/>
          <p:nvPr/>
        </p:nvSpPr>
        <p:spPr>
          <a:xfrm>
            <a:off x="1077615" y="2092154"/>
            <a:ext cx="1035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27%</a:t>
            </a:r>
            <a:endParaRPr lang="en-US" sz="400" dirty="0"/>
          </a:p>
        </p:txBody>
      </p:sp>
      <p:sp>
        <p:nvSpPr>
          <p:cNvPr id="6" name="Shape 3"/>
          <p:cNvSpPr/>
          <p:nvPr/>
        </p:nvSpPr>
        <p:spPr>
          <a:xfrm>
            <a:off x="3165500" y="2776091"/>
            <a:ext cx="761926" cy="102840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0000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837" y="2798936"/>
            <a:ext cx="57150" cy="571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94087" y="2790379"/>
            <a:ext cx="619051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450" dirty="0">
                <a:solidFill>
                  <a:srgbClr val="67534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Non-Subscribers·73%</a:t>
            </a:r>
            <a:endParaRPr lang="en-US" sz="450" dirty="0"/>
          </a:p>
        </p:txBody>
      </p:sp>
      <p:sp>
        <p:nvSpPr>
          <p:cNvPr id="9" name="Text 5"/>
          <p:cNvSpPr/>
          <p:nvPr/>
        </p:nvSpPr>
        <p:spPr>
          <a:xfrm>
            <a:off x="3739232" y="2790379"/>
            <a:ext cx="173906" cy="74265"/>
          </a:xfrm>
          <a:prstGeom prst="rect">
            <a:avLst/>
          </a:prstGeom>
          <a:noFill/>
          <a:ln/>
        </p:spPr>
        <p:txBody>
          <a:bodyPr wrap="none" lIns="0" tIns="22860" rIns="0" bIns="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450" dirty="0">
                <a:solidFill>
                  <a:srgbClr val="67534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·73%</a:t>
            </a:r>
            <a:endParaRPr lang="en-US" sz="450" dirty="0"/>
          </a:p>
        </p:txBody>
      </p:sp>
      <p:sp>
        <p:nvSpPr>
          <p:cNvPr id="10" name="Text 6"/>
          <p:cNvSpPr/>
          <p:nvPr/>
        </p:nvSpPr>
        <p:spPr>
          <a:xfrm>
            <a:off x="3762077" y="2790379"/>
            <a:ext cx="15329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450" dirty="0">
                <a:solidFill>
                  <a:srgbClr val="67534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450" dirty="0"/>
          </a:p>
        </p:txBody>
      </p:sp>
      <p:sp>
        <p:nvSpPr>
          <p:cNvPr id="11" name="Shape 7"/>
          <p:cNvSpPr/>
          <p:nvPr/>
        </p:nvSpPr>
        <p:spPr>
          <a:xfrm>
            <a:off x="3165500" y="2917031"/>
            <a:ext cx="630138" cy="102840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0000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8837" y="2939876"/>
            <a:ext cx="57150" cy="571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94087" y="2931319"/>
            <a:ext cx="487263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450" dirty="0">
                <a:solidFill>
                  <a:srgbClr val="67534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Subscribers·27%</a:t>
            </a:r>
            <a:endParaRPr lang="en-US" sz="450" dirty="0"/>
          </a:p>
        </p:txBody>
      </p:sp>
      <p:sp>
        <p:nvSpPr>
          <p:cNvPr id="14" name="Text 9"/>
          <p:cNvSpPr/>
          <p:nvPr/>
        </p:nvSpPr>
        <p:spPr>
          <a:xfrm>
            <a:off x="3607445" y="2931319"/>
            <a:ext cx="173906" cy="74265"/>
          </a:xfrm>
          <a:prstGeom prst="rect">
            <a:avLst/>
          </a:prstGeom>
          <a:noFill/>
          <a:ln/>
        </p:spPr>
        <p:txBody>
          <a:bodyPr wrap="none" lIns="0" tIns="22860" rIns="0" bIns="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450" dirty="0">
                <a:solidFill>
                  <a:srgbClr val="67534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·27%</a:t>
            </a:r>
            <a:endParaRPr lang="en-US" sz="450" dirty="0"/>
          </a:p>
        </p:txBody>
      </p:sp>
      <p:sp>
        <p:nvSpPr>
          <p:cNvPr id="15" name="Text 10"/>
          <p:cNvSpPr/>
          <p:nvPr/>
        </p:nvSpPr>
        <p:spPr>
          <a:xfrm>
            <a:off x="3630290" y="2931319"/>
            <a:ext cx="15329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450" dirty="0">
                <a:solidFill>
                  <a:srgbClr val="67534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450" dirty="0"/>
          </a:p>
        </p:txBody>
      </p:sp>
      <p:sp>
        <p:nvSpPr>
          <p:cNvPr id="16" name="Text 11"/>
          <p:cNvSpPr/>
          <p:nvPr/>
        </p:nvSpPr>
        <p:spPr>
          <a:xfrm>
            <a:off x="4749701" y="1734294"/>
            <a:ext cx="3308821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Subscriber vs. Non-Subscriber Spend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4749701" y="2158678"/>
            <a:ext cx="3902943" cy="1479203"/>
          </a:xfrm>
          <a:prstGeom prst="roundRect">
            <a:avLst>
              <a:gd name="adj" fmla="val 402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896743" y="2253258"/>
            <a:ext cx="1011585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Status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196608" y="2253258"/>
            <a:ext cx="1009204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Avg. Spend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7494091" y="2253258"/>
            <a:ext cx="1011585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896743" y="2806154"/>
            <a:ext cx="1011585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Subscribers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196608" y="2806154"/>
            <a:ext cx="1009204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$59.49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7494091" y="2806154"/>
            <a:ext cx="1011585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$62,645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896743" y="3174802"/>
            <a:ext cx="1011585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Non-Subscribers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196608" y="3174802"/>
            <a:ext cx="1009204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$59.87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7494091" y="3174802"/>
            <a:ext cx="1011585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$170,436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4749701" y="3797350"/>
            <a:ext cx="390294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 repeat buyers (&gt;5 purchases),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958 subscribe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vs.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2,518 who don't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a major conversion opportunity.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4092"/>
            <a:ext cx="8151763" cy="105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Top Products by Category &amp; Revenue by Age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96119" y="1888108"/>
            <a:ext cx="2493318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Top Products per Category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96119" y="2312491"/>
            <a:ext cx="3902943" cy="2197447"/>
          </a:xfrm>
          <a:prstGeom prst="roundRect">
            <a:avLst>
              <a:gd name="adj" fmla="val 271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0881" y="2317254"/>
            <a:ext cx="3893418" cy="36388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2714" y="2407072"/>
            <a:ext cx="687437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Category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18431" y="2407072"/>
            <a:ext cx="685056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91767" y="2407072"/>
            <a:ext cx="685056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5103" y="2407072"/>
            <a:ext cx="687437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0881" y="2681139"/>
            <a:ext cx="3893418" cy="5481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2714" y="2770956"/>
            <a:ext cx="687437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Accessories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18431" y="2770956"/>
            <a:ext cx="685056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Jewelry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91767" y="2770956"/>
            <a:ext cx="685056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Sunglasses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5103" y="2770956"/>
            <a:ext cx="687437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Belt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0881" y="3229273"/>
            <a:ext cx="3893418" cy="36388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2714" y="3319090"/>
            <a:ext cx="687437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Clothing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18431" y="3319090"/>
            <a:ext cx="685056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Blouse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91767" y="3319090"/>
            <a:ext cx="685056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65103" y="3319090"/>
            <a:ext cx="687437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Shirt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0881" y="3593157"/>
            <a:ext cx="3893418" cy="36388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2714" y="3682975"/>
            <a:ext cx="687437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Footwear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18431" y="3682975"/>
            <a:ext cx="685056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Sandals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91767" y="3682975"/>
            <a:ext cx="685056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65103" y="3682975"/>
            <a:ext cx="687437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Sneakers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0881" y="3957042"/>
            <a:ext cx="3893418" cy="5481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2714" y="4046860"/>
            <a:ext cx="687437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Outerwear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18431" y="4046860"/>
            <a:ext cx="685056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Jacket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91767" y="4046860"/>
            <a:ext cx="685056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Coat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65103" y="4046860"/>
            <a:ext cx="687437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1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9701" y="1905819"/>
            <a:ext cx="3902943" cy="2308399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270061" y="2204665"/>
            <a:ext cx="160511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62.1k</a:t>
            </a:r>
            <a:endParaRPr lang="en-US" sz="400" dirty="0"/>
          </a:p>
        </p:txBody>
      </p:sp>
      <p:sp>
        <p:nvSpPr>
          <p:cNvPr id="32" name="Text 29"/>
          <p:cNvSpPr/>
          <p:nvPr/>
        </p:nvSpPr>
        <p:spPr>
          <a:xfrm>
            <a:off x="8108681" y="2716634"/>
            <a:ext cx="160511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59.2k</a:t>
            </a:r>
            <a:endParaRPr lang="en-US" sz="400" dirty="0"/>
          </a:p>
        </p:txBody>
      </p:sp>
      <p:sp>
        <p:nvSpPr>
          <p:cNvPr id="33" name="Text 30"/>
          <p:cNvSpPr/>
          <p:nvPr/>
        </p:nvSpPr>
        <p:spPr>
          <a:xfrm>
            <a:off x="7984544" y="3228603"/>
            <a:ext cx="116532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56k</a:t>
            </a:r>
            <a:endParaRPr lang="en-US" sz="400" dirty="0"/>
          </a:p>
        </p:txBody>
      </p:sp>
      <p:sp>
        <p:nvSpPr>
          <p:cNvPr id="34" name="Text 31"/>
          <p:cNvSpPr/>
          <p:nvPr/>
        </p:nvSpPr>
        <p:spPr>
          <a:xfrm>
            <a:off x="7928920" y="3740572"/>
            <a:ext cx="160511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55.8k</a:t>
            </a:r>
            <a:endParaRPr lang="en-US" sz="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46822" y="276746"/>
            <a:ext cx="2611041" cy="339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Power BI Dashboard</a:t>
            </a:r>
            <a:endParaRPr lang="en-US" sz="2050" dirty="0"/>
          </a:p>
        </p:txBody>
      </p:sp>
      <p:sp>
        <p:nvSpPr>
          <p:cNvPr id="4" name="Shape 1"/>
          <p:cNvSpPr/>
          <p:nvPr/>
        </p:nvSpPr>
        <p:spPr>
          <a:xfrm>
            <a:off x="3746822" y="703362"/>
            <a:ext cx="2510582" cy="501997"/>
          </a:xfrm>
          <a:prstGeom prst="roundRect">
            <a:avLst>
              <a:gd name="adj" fmla="val 7599"/>
            </a:avLst>
          </a:prstGeom>
          <a:solidFill>
            <a:srgbClr val="FFFFF4"/>
          </a:solidFill>
          <a:ln w="9525">
            <a:solidFill>
              <a:srgbClr val="FFE0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847133" y="803672"/>
            <a:ext cx="130552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3.9K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47133" y="1008236"/>
            <a:ext cx="2309961" cy="96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Customers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6315521" y="703362"/>
            <a:ext cx="2510656" cy="501997"/>
          </a:xfrm>
          <a:prstGeom prst="roundRect">
            <a:avLst>
              <a:gd name="adj" fmla="val 7599"/>
            </a:avLst>
          </a:prstGeom>
          <a:solidFill>
            <a:srgbClr val="FFFFF4"/>
          </a:solidFill>
          <a:ln w="9525">
            <a:solidFill>
              <a:srgbClr val="FFE0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15832" y="803672"/>
            <a:ext cx="130552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$59.76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15832" y="1008236"/>
            <a:ext cx="2310036" cy="96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Avg. Purchase Amount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3746822" y="1263476"/>
            <a:ext cx="5079355" cy="501997"/>
          </a:xfrm>
          <a:prstGeom prst="roundRect">
            <a:avLst>
              <a:gd name="adj" fmla="val 7599"/>
            </a:avLst>
          </a:prstGeom>
          <a:solidFill>
            <a:srgbClr val="FFFFF4"/>
          </a:solidFill>
          <a:ln w="9525">
            <a:solidFill>
              <a:srgbClr val="FFE0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7133" y="1363787"/>
            <a:ext cx="130552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3.75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847133" y="1568351"/>
            <a:ext cx="4878735" cy="96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Avg. Review Rating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746822" y="1830884"/>
            <a:ext cx="5079355" cy="193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Interactive filters by Subscription Status, Gender, Category, and Shipping Type. Visualizations include revenue/sales by category and age group, plus subscription donut chart.</a:t>
            </a:r>
            <a:endParaRPr lang="en-US" sz="7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822" y="2089919"/>
            <a:ext cx="5079355" cy="27768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89062"/>
            <a:ext cx="4983361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Business Recommendations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402407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933947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Boost Subscriptions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96119" y="2283916"/>
            <a:ext cx="2599134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Promote exclusive benefits to convert the 73% non-subscriber base.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402407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1933947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Loyalty Programs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272433" y="2283916"/>
            <a:ext cx="2599134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Reward repeat buyers to accelerate movement into the Loyal segment.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402407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1933947"/>
            <a:ext cx="2090217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Review Discount Policy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048747" y="2283916"/>
            <a:ext cx="2599134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Balance sales boosts with margin control — especially for high-dependency products.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120182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3651721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Targeted Marketing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496119" y="4001691"/>
            <a:ext cx="2599134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 on Young Adults and express-shipping users — the highest-revenue segments.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3120182"/>
            <a:ext cx="354360" cy="3543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72433" y="3651721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Product Positioning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3272433" y="4001691"/>
            <a:ext cx="2599134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Highlight top-rated (Gloves, Sandals) and best-selling items in campaigns.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2026-05-13T23:16:09Z</dcterms:created>
  <dcterms:modified xsi:type="dcterms:W3CDTF">2026-05-13T23:16:09Z</dcterms:modified>
</cp:coreProperties>
</file>